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本資料は、画面側、API、処理側の役割を初心者向けに整理する補足資料です。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Pagesをフロントエンド、Workersをバックエンド、APIを両者の受け渡し口として説明します。
[Sources]
https://developers.cloudflare.com/pages/
https://developers.cloudflare.com/workers/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クリックから表示までを、要求、受付、処理、表示の4段階で説明します。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左をブラウザで動くフロントエンド、右をWorkersで動くバックエンドとして対応付けます。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不具合を3層に分けて、確認する場所を整理します。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最後に、学生に構成図を指しながら1文で説明させます。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D8C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6A53"/>
                </a:solidFill>
              </a:rPr>
              <a:t>補足資料 ｜ フロントエンド・API・バックエンド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537960" y="10058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02552" y="11521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702552" y="14447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画面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702552" y="19659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HTML / 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85632" y="1444752"/>
            <a:ext cx="594360" cy="457200"/>
          </a:xfrm>
          <a:prstGeom prst="leftRightArrow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4192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D7A33"/>
                </a:solidFill>
              </a:rPr>
              <a:t>要求 / 応答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0" y="10058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08592" y="11521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BRIDGE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08592" y="14447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08592" y="19659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HTTP / 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57232" y="2487168"/>
            <a:ext cx="411480" cy="530352"/>
          </a:xfrm>
          <a:prstGeom prst="upDownArrow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2615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53A"/>
                </a:solidFill>
              </a:rPr>
              <a:t>呼出 / 結果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49640" y="306324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14232" y="32095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14232" y="350215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処理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714232" y="40233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Workers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7A33"/>
                </a:solidFill>
              </a:rPr>
              <a:t>補足資料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128016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E2113"/>
                </a:solidFill>
              </a:rPr>
              <a:t>APIをはさんで理解する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2E2113"/>
                </a:solidFill>
              </a:rPr>
              <a:t>Webシステムの構成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713232" y="2971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53A"/>
                </a:solidFill>
              </a:rPr>
              <a:t>フロントエンド・API・バックエンドを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0553A"/>
                </a:solidFill>
              </a:rPr>
              <a:t>「担当する仕事」で分けて考える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6A53"/>
                </a:solidFill>
              </a:rPr>
              <a:t>Cloudflare Pages / Workers 入門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今回のシステム構成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まず「どこで何を担当するか」を3つに分ける。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9751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CLOUDFLARE PAGES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267712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フロントエンド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788920"/>
            <a:ext cx="2734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利用者が見る画面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・HTML：内容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・CSS：見た目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・JavaScript：ボタン操作やAPI呼び出し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2944368"/>
            <a:ext cx="502920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3886200" y="3840480"/>
            <a:ext cx="502920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1828800"/>
            <a:ext cx="2971800" cy="3200400"/>
          </a:xfrm>
          <a:prstGeom prst="roundRect">
            <a:avLst>
              <a:gd name="adj" fmla="val 1846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9751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/api/hello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26771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API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26426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フロントエンドとバックエンドの受け渡し口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・URLで処理を指定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・HTTPで通信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・JSONでデータを返す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90688" y="2944368"/>
            <a:ext cx="502920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7790688" y="3840480"/>
            <a:ext cx="502920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182880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50224" y="197510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CLOUDFLARE WORKERS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50224" y="2267712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バックエンド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50224" y="2788920"/>
            <a:ext cx="2734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画面から見えない処理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・条件分岐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・データの作成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・結果をResponseで返す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54864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7A33"/>
                </a:solidFill>
              </a:rPr>
              <a:t>APIは別の「画面」ではなく、画面と処理をつなぐ約束・入口。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REQUEST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クリックして結果が表示されるまで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通信を4つの出来事に分ける。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① 画面から要求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fetch("/api/hello")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「データをください」と送る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9359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② APIが受け取る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Requestを受け取る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URLを見て処理を選ぶ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1616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251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③ Workersが処理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8251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JavaScriptで結果を作る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Response.json()で返す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05088" y="3246120"/>
            <a:ext cx="256032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828800"/>
            <a:ext cx="2423160" cy="3246120"/>
          </a:xfrm>
          <a:prstGeom prst="roundRect">
            <a:avLst>
              <a:gd name="adj" fmla="val 2264"/>
            </a:avLst>
          </a:prstGeom>
          <a:solidFill>
            <a:srgbClr val="FFF9F0"/>
          </a:solidFill>
          <a:ln w="25400">
            <a:solidFill>
              <a:srgbClr val="C2922B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97510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2922B"/>
                </a:solidFill>
              </a:rPr>
              <a:t>FRONTEND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71432" y="2267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④ 画面へ表示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71432" y="278892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JSONを受け取る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messageの値をHTMLへ入れる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553A"/>
                </a:solidFill>
              </a:rPr>
              <a:t>同じJavaScriptでも、画面側の処理とWorkers側の処理では「動く場所」と「役割」が違う。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CODE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コードを構成図に対応させる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どのコードがフロントエンドで、どのコードがバックエンドかを見分ける。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03520" cy="4069080"/>
          </a:xfrm>
          <a:prstGeom prst="roundRect">
            <a:avLst>
              <a:gd name="adj" fmla="val 1348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883664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BROWSER / PAGES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17627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フロントエンド側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697480"/>
            <a:ext cx="4974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fetch("WorkerのURL/api/hello")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.then(response =&gt; response.json())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.then(data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document.querySelector("#result")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  .textContent = data.message;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523036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3218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要求を送る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523036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532180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結果を画面へ表示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1737360"/>
            <a:ext cx="5303520" cy="4069080"/>
          </a:xfrm>
          <a:prstGeom prst="roundRect">
            <a:avLst>
              <a:gd name="adj" fmla="val 1348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5664" y="1883664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WORKERS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55664" y="217627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バックエンド側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55664" y="2697480"/>
            <a:ext cx="4974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export default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async fetch(request)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return Response.json({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  message: "こんにちは、Workers！"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  });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};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523036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53218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要求を受ける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523036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532180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JSONを返す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25312" y="2926080"/>
            <a:ext cx="201168" cy="41148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5925312" y="4224528"/>
            <a:ext cx="201168" cy="411480"/>
          </a:xfrm>
          <a:prstGeom prst="chevron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役割を混ぜないための考え方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困ったときは「画面・通信・処理」のどこかを切り分ける。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7EA6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画面の問題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・ボタンが表示されない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・文字が変わらない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・レイアウトが崩れる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確認：HTML / CSS / DOM操作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D7A33"/>
                </a:solidFill>
              </a:rPr>
              <a:t>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81144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通信の問題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81144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・URLが違う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・404 / 500が返る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・JSONとして読めない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確認：Network / Status /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57616" y="19751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53A"/>
                </a:solidFill>
              </a:rPr>
              <a:t>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57616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処理の問題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7616" y="278892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・条件分岐が違う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・返す値が違う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・エラーが発生する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確認：Workersのコード / ログ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MINI 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構成図を自分の言葉で説明する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D6A53"/>
                </a:solidFill>
              </a:rPr>
              <a:t>次の問いに答えられれば、3層の役割を理解できている。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3D7EA6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011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Q1　利用者が直接見るのはどこ？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" y="260604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答え：フロントエンド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DD7A33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011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Q2　画面と処理の受け渡し口は？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19672" y="260604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74904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C055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" y="3977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Q3　条件分岐やデータ作成をするのは？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0392" y="4572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答え：バックエンド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74904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9F0"/>
          </a:solidFill>
          <a:ln w="25400">
            <a:solidFill>
              <a:srgbClr val="C2922B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3977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2113"/>
                </a:solidFill>
              </a:rPr>
              <a:t>Q4　Workersから画面へ返す形式は？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19672" y="4572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答え：JSON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71500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DD7A33"/>
                </a:solidFill>
              </a:rPr>
              <a:t>説明の型：［フロントエンド］が要求し、［API］を通して［バックエンド］が処理し、［JSON］を返す。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Workers システム構成図_矢印修正版</dc:title>
  <dc:subject>フロントエンド・API・バックエンドの理解</dc:subject>
  <dc:creator>NH-STAFF 高橋真広</dc:creator>
  <cp:lastModifiedBy>NH-STAFF 高橋真広</cp:lastModifiedBy>
  <cp:revision>2</cp:revision>
  <dcterms:created xsi:type="dcterms:W3CDTF">2026-09-09T21:26:20Z</dcterms:created>
  <dcterms:modified xsi:type="dcterms:W3CDTF">2026-09-09T21:27:32Z</dcterms:modified>
</cp:coreProperties>
</file>